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304288"/>
            <a:ext cx="8229600" cy="2286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Automata-Based Detection of</a:t>
            </a:r>
            <a:endParaRPr lang="en-US" sz="33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Protocol State Machine Bugs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57200" y="2359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Replication of NDSS 2023, Paper #8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E0E0"/>
                </a:solidFill>
              </a:rPr>
              <a:t>Bless Elikem Krapah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COE 576: Networks and Web Security  |  KNUST MPhil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Paper Overview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A1A1A"/>
                </a:solidFill>
              </a:rPr>
              <a:t>“Automata-Based Automated Detection of State Machine Bugs in Protocol Implementations”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NDSS Symposium 2023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8412480" cy="566928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45920"/>
            <a:ext cx="8138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</a:rPr>
              <a:t>Key claim: protocol implementation bugs can be detected automatically, in seconds, by intersecting a learned automata model with a small bug-pattern DFA.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04288"/>
          <a:ext cx="8412480" cy="109728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bugs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 (GnuTLS, MbedTLS, OpenSSL, WolfSSL, PionDTLS, Scandium…)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(BitVise, Dropbear, OpenSSH)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352044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Why this matters: finding state machine bugs in protocol servers requires expert manual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 analysis of learned models; this paper fully automates that step.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2/13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 Problem: Protocol State Machine Bugs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58521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11111"/>
                </a:solidFill>
              </a:rPr>
              <a:t>Protocol servers behave as state machines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State machine bug: server accepts a message sequence the RFC forbids
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11111"/>
                </a:solidFill>
              </a:rPr>
              <a:t>Real examples from the paper:</a:t>
            </a:r>
            <a:endParaRPr lang="en-US" sz="1300" dirty="0"/>
          </a:p>
          <a:p>
            <a:pPr marL="317500" indent="-3175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Completing mutual auth without a client certificate</a:t>
            </a:r>
            <a:endParaRPr lang="en-US" sz="1300" dirty="0"/>
          </a:p>
          <a:p>
            <a:pPr marL="317500" indent="-3175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Authenticating client without CertificateVerify (no key proof)</a:t>
            </a:r>
            <a:endParaRPr lang="en-US" sz="1300" dirty="0"/>
          </a:p>
          <a:p>
            <a:pPr marL="317500" indent="-3175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Accepting wrong message ordering (CertVer before CKE)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11111"/>
                </a:solidFill>
              </a:rPr>
              <a:t>Prior approach: state fuzzing + manual model analysis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Limitation: model analysis is slow, error-prone, does not scale
</a:t>
            </a:r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Paper’s solution: encode bug classes as DFAs → intersect automatically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92240" y="749808"/>
            <a:ext cx="237744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79552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</a:rPr>
              <a:t>DTLS Handshake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537960" y="111556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ClientHello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37960" y="135331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HelloVerifyReq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537960" y="1591056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ClientHello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37960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ServerHello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537960" y="206654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Certificate_s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37960" y="230428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CertReq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37960" y="254203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ServerHelloDone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537960" y="2779776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Certificate_c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537960" y="301752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ClientKeyExchange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37960" y="325526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CertificateVerify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37960" y="349300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CCS + Finished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37960" y="373075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CCS + Finished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3/13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 Three-Step Bug Detection Pipeline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0040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Learn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Active automata learning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queries the implementation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as a black box and infers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 Mealy machine M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(L* / TTT algorithm)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63240" y="2788920"/>
            <a:ext cx="118872" cy="118872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27832" y="777240"/>
            <a:ext cx="278892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3672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19272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Encode Bug Pattern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64992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Construct a 3–5 state DFA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A_bug that accepts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exactly the I/O sequences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that exhibit the bug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(from RFC or prior CVEs)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62472" y="2788920"/>
            <a:ext cx="118872" cy="118872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777240"/>
            <a:ext cx="2788920" cy="402336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32904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2904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18504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Intersect &amp; Validate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A∩ = A_M ∩ A_bug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Algorithm 1 extracts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witness via backward BFS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and replays on the SUT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to confirm the bug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4/13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Key Formalisms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60520" cy="166420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04672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</a:rPr>
              <a:t>Mealy Machine  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11480" y="112471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(I, O, Q, q₀, δ, λ)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408176"/>
            <a:ext cx="388620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11111"/>
                </a:solidFill>
              </a:rPr>
              <a:t>I = inputs,  O = outputs,  Q = states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1111"/>
                </a:solidFill>
              </a:rPr>
              <a:t>δ : transitions,  λ : output function</a:t>
            </a:r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Learned from black-box SUT (L* / TTT)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749808"/>
            <a:ext cx="4160520" cy="1664208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</a:rPr>
              <a:t>Bug Pattern DFA  A</a:t>
            </a:r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bug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12471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(Σ, Q, q₀, Δ, F)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408176"/>
            <a:ext cx="3886200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1111"/>
                </a:solidFill>
              </a:rPr>
              <a:t>Σ = I ∪ O,  F = accepting states → bug</a:t>
            </a:r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Accepts w iff w exhibits the bug; 3–5 states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05456"/>
            <a:ext cx="8595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56032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</a:rPr>
              <a:t>Bug Pattern DFAs: BP1, BP2, BP3  (hand-crafted from RFC; 3-4 states; double circle = accepting = bug detected)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2880" y="279806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</a:rPr>
              <a:t>BP1  Missing Certificate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200400" y="279806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</a:rPr>
              <a:t>BP2  Missing CertVer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172200" y="279806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</a:rPr>
              <a:t>BP3  CertVer before CKE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9834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init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36702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6702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s1</a:t>
            </a:r>
            <a:endParaRPr lang="en-US" sz="600" dirty="0"/>
          </a:p>
        </p:txBody>
      </p:sp>
      <p:sp>
        <p:nvSpPr>
          <p:cNvPr id="22" name="Shape 20"/>
          <p:cNvSpPr/>
          <p:nvPr/>
        </p:nvSpPr>
        <p:spPr>
          <a:xfrm>
            <a:off x="2189988" y="3808476"/>
            <a:ext cx="429768" cy="42976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35708" y="3854196"/>
            <a:ext cx="338328" cy="33832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3570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BUG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333756" y="4023360"/>
            <a:ext cx="16459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83667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76352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CertReq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170535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163220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CCS_s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536192" y="3401568"/>
            <a:ext cx="9144" cy="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" y="3401568"/>
            <a:ext cx="868680" cy="91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7512" y="3401568"/>
            <a:ext cx="9144" cy="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800100" y="3246120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356158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6158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init</a:t>
            </a:r>
            <a:endParaRPr lang="en-US" sz="600" dirty="0"/>
          </a:p>
        </p:txBody>
      </p:sp>
      <p:sp>
        <p:nvSpPr>
          <p:cNvPr id="36" name="Shape 34"/>
          <p:cNvSpPr/>
          <p:nvPr/>
        </p:nvSpPr>
        <p:spPr>
          <a:xfrm>
            <a:off x="4430268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3026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s1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5253228" y="3808476"/>
            <a:ext cx="429768" cy="42976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98948" y="3854196"/>
            <a:ext cx="338328" cy="33832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98948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BUG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3396996" y="4023360"/>
            <a:ext cx="16459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9991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382676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768596" y="4023360"/>
            <a:ext cx="53035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45" name="Text 43"/>
          <p:cNvSpPr/>
          <p:nvPr/>
        </p:nvSpPr>
        <p:spPr>
          <a:xfrm>
            <a:off x="4695444" y="3849624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CCS_s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4599432" y="3401568"/>
            <a:ext cx="9144" cy="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30752" y="3401568"/>
            <a:ext cx="868680" cy="91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730752" y="3401568"/>
            <a:ext cx="9144" cy="4526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arrow"/>
          </a:ln>
        </p:spPr>
      </p:sp>
      <p:sp>
        <p:nvSpPr>
          <p:cNvPr id="49" name="Text 47"/>
          <p:cNvSpPr/>
          <p:nvPr/>
        </p:nvSpPr>
        <p:spPr>
          <a:xfrm>
            <a:off x="3863340" y="3246120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CertVer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6359652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59652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init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7100316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00316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s1</a:t>
            </a:r>
            <a:endParaRPr lang="en-US" sz="600" dirty="0"/>
          </a:p>
        </p:txBody>
      </p:sp>
      <p:sp>
        <p:nvSpPr>
          <p:cNvPr id="54" name="Shape 52"/>
          <p:cNvSpPr/>
          <p:nvPr/>
        </p:nvSpPr>
        <p:spPr>
          <a:xfrm>
            <a:off x="7840980" y="3854196"/>
            <a:ext cx="338328" cy="3383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40980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11111"/>
                </a:solidFill>
              </a:rPr>
              <a:t>s2</a:t>
            </a:r>
            <a:endParaRPr lang="en-US" sz="600" dirty="0"/>
          </a:p>
        </p:txBody>
      </p:sp>
      <p:sp>
        <p:nvSpPr>
          <p:cNvPr id="56" name="Shape 54"/>
          <p:cNvSpPr/>
          <p:nvPr/>
        </p:nvSpPr>
        <p:spPr>
          <a:xfrm>
            <a:off x="8535924" y="3808476"/>
            <a:ext cx="429768" cy="42976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81644" y="3854196"/>
            <a:ext cx="338328" cy="33832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81644" y="38541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BUG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6195060" y="4023360"/>
            <a:ext cx="16459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6697980" y="4023360"/>
            <a:ext cx="402336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61" name="Text 59"/>
          <p:cNvSpPr/>
          <p:nvPr/>
        </p:nvSpPr>
        <p:spPr>
          <a:xfrm>
            <a:off x="6624828" y="3849624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CertVer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438644" y="4023360"/>
            <a:ext cx="402336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63" name="Text 61"/>
          <p:cNvSpPr/>
          <p:nvPr/>
        </p:nvSpPr>
        <p:spPr>
          <a:xfrm>
            <a:off x="7365492" y="3849624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CKE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8179308" y="4023360"/>
            <a:ext cx="402336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arrow"/>
          </a:ln>
        </p:spPr>
      </p:sp>
      <p:sp>
        <p:nvSpPr>
          <p:cNvPr id="65" name="Text 63"/>
          <p:cNvSpPr/>
          <p:nvPr/>
        </p:nvSpPr>
        <p:spPr>
          <a:xfrm>
            <a:off x="8106156" y="3849624"/>
            <a:ext cx="548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CCS_s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269480" y="3337560"/>
            <a:ext cx="9144" cy="516636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528816" y="3337560"/>
            <a:ext cx="740664" cy="91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528816" y="3337560"/>
            <a:ext cx="9144" cy="516636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arrow"/>
          </a:ln>
        </p:spPr>
      </p:sp>
      <p:sp>
        <p:nvSpPr>
          <p:cNvPr id="69" name="Text 67"/>
          <p:cNvSpPr/>
          <p:nvPr/>
        </p:nvSpPr>
        <p:spPr>
          <a:xfrm>
            <a:off x="6597396" y="3182112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SH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8010144" y="4192524"/>
            <a:ext cx="9144" cy="3520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528816" y="4544568"/>
            <a:ext cx="1481328" cy="91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528816" y="4192524"/>
            <a:ext cx="9144" cy="352044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headEnd type="arrow"/>
          </a:ln>
        </p:spPr>
      </p:sp>
      <p:sp>
        <p:nvSpPr>
          <p:cNvPr id="73" name="Text 71"/>
          <p:cNvSpPr/>
          <p:nvPr/>
        </p:nvSpPr>
        <p:spPr>
          <a:xfrm>
            <a:off x="6967728" y="4553712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1A1A"/>
                </a:solidFill>
              </a:rPr>
              <a:t>SH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6080760" y="4773168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</a:rPr>
              <a:t>BP3: s1 = certver  |  s2 = cke_after  |  SH = renegotiation reset  |  self-loops on other symbols not shown</a:t>
            </a:r>
            <a:endParaRPr lang="en-US" sz="550" dirty="0"/>
          </a:p>
        </p:txBody>
      </p:sp>
      <p:sp>
        <p:nvSpPr>
          <p:cNvPr id="75" name="Text 73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5/13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Converting M to DFA A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</a:t>
            </a:r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 (Section VI)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</a:t>
            </a:r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 accepts all I/O traces M can produce. Both operands require the same alphabet Σ = I ∪ O for intersection.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Mealy machine  M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70832" y="1097280"/>
            <a:ext cx="4407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DFA  A</a:t>
            </a:r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</a:rPr>
              <a:t>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4320" y="1389888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444752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I, O  (input &amp; output alphabets)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877056" y="1609344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4370832" y="1389888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444752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Σ = I ∪ O  (same combined alphabet)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1865376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1920240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  (set of states)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77056" y="2084832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4370832" y="1865376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1920240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 ∪ Q_aux ∪ {SINK}  (original + auxiliary + dead)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340864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2395728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q₀  (initial state)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877056" y="2560320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370832" y="2340864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395728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q₀  (unchanged)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816352"/>
            <a:ext cx="3566160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871216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δ : Q × I → Q  (transitions)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877056" y="3035808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370832" y="2816352"/>
            <a:ext cx="4407408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2871216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Δ encodes target state at end of Q_aux chain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3566160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3346704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λ : Q × I → O*  (output fn)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877056" y="3511296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4370832" y="3291840"/>
            <a:ext cx="4407408" cy="43891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3346704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Each output symbol = one auxiliary-state step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4320" y="3767328"/>
            <a:ext cx="3566160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3822192"/>
            <a:ext cx="33467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(none — Mealy has no accepting concept)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877056" y="3986784"/>
            <a:ext cx="36576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4370832" y="3767328"/>
            <a:ext cx="4407408" cy="438912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3822192"/>
            <a:ext cx="41879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</a:rPr>
              <a:t>F = Q  (all original Mealy states accepting)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65760" y="4334256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Chain example: (q, i) with output o₁ o₂ →  q →[i]→ aux₁ →[o₁]→ aux₂ →[o₂]→ q'   (q, q’ ∈ F;  aux states not in F)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63600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8888"/>
                </a:solidFill>
              </a:rPr>
              <a:t>Replication: |A</a:t>
            </a:r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M</a:t>
            </a:r>
            <a:pPr indent="0" marL="0">
              <a:buNone/>
            </a:pPr>
            <a:r>
              <a:rPr lang="en-US" sz="950" i="1" dirty="0">
                <a:solidFill>
                  <a:srgbClr val="888888"/>
                </a:solidFill>
              </a:rPr>
              <a:t>| = 71–87 states for our mock DTLS models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6/13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DFA Intersection: A∩ = A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</a:t>
            </a:r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 ∩ A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bug</a:t>
            </a:r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 (Section IV)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sequence is a bug witness iff it is both producible by M and accepted by A</a:t>
            </a:r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</a:rPr>
              <a:t>bug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5212080" cy="283464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261872"/>
            <a:ext cx="4992624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Cross-product construction: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A∩ = (Σ,  Q_M × Q_b,  (q₀_M, q₀_b),  Δ’,  Q_M × F_b)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Δ’((q_M, q_b), l)  =  (Δ_M(q_M, l),  Δ_b(q_b, l))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Accepting:  (q_M, q_b) where q_b ∈ F_b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(A_M accepts everything; A_bug must also accept)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construction: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Trim: remove unreachable states and dead states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(states from which no accepting state is reachable)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60720" y="1170432"/>
            <a:ext cx="3108960" cy="283464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70448" y="1225296"/>
            <a:ext cx="2889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70448" y="1572768"/>
            <a:ext cx="2889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L(A∩) = L(A_M) ∩ L(A_bug)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L(A∩) = ∅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⇒ no bug exists in M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L(A∩) ≠ ∅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⇒ bug may exist (verify on SUT)</a:t>
            </a:r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|A∩| ≈ 22–23 states in our replication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114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The intersection uses BFS over product states, so only reachable ones are explored.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7/13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Algorithm 1: Bug Witness Extraction (Section V)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486400" cy="365760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841248"/>
            <a:ext cx="52669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 A∩,  A_bug,  SUT,  K (max state visits, default K=2)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(witness_inputs, observed_IO)  or  “no bug found”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:= {(q, ε) : q ∈ F}        // initialise with accepting states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WQ is non-empty: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(q, w) := dequeue(WQ)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q == q₀:              // found full path from initial → accepting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replay  inputs(w)  on SUT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 w_obs = observed I/O sequence from SUT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 w_obs ∈ L(A_bug):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(inputs(w), w_obs)  // BUG CONFIRMED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(q’, l) such that Δ(q’, l) = q: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maxStateVisits(q’, l·w, A∩) ≤ K: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enqueue (q’, l·w)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0" y="749808"/>
            <a:ext cx="2926080" cy="365760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53328" y="80467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Design Rationale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53328" y="1170432"/>
            <a:ext cx="2706624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Backward BFS from accepting states → finds the shortest witness first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maxStateVisits ≤ K prevents looping sequences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K = 2 suffices for all paper’s bugs</a:t>
            </a:r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inputs(w) extracts only input symbols from the I/O sequence w</a:t>
            </a:r>
            <a:pPr indent="0" marL="0">
              <a:buNone/>
            </a:pPr>
            <a:r>
              <a:rPr lang="en-US" sz="1050" i="1" dirty="0">
                <a:solidFill>
                  <a:srgbClr val="888888"/>
                </a:solidFill>
              </a:rPr>
              <a:t>SUT replay filters false alarms from approximate models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8/13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Bug Pattern DFAs Implemented (over Σ = I ∪ O)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Missing Certificate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--CertReq-&gt; certreq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--Cert-&gt; init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608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2608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CertE → CKE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CertVer → CCS_c → Fin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2608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Server sends CCS_s after CertReq but without receiving a real Cert from the client. Mutual authentication is bypassed.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91256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0984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00984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31336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Missing CertVer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82696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92424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--Cert-&gt; cert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--CertVer-&gt; init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82696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82696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92424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 → CKE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CCS_c → Fin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Client skips CertificateVerify (proof of private-key possession). Server completes handshake anyway.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91072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91072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21424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CertVer Before CKE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72784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82512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--CertVer-&gt; cv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--CKE-&gt; cke_after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72784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72784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 → CertVer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CKE → CCS_c → Fin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72784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RFC 6347 mandates CKE before CertVer. Server accepts the reversed order, enabling potential impersonation.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9/13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Replication Results</a:t>
            </a:r>
            <a:endParaRPr lang="en-US" sz="2100" dirty="0"/>
          </a:p>
        </p:txBody>
      </p:sp>
      <p:pic>
        <p:nvPicPr>
          <p:cNvPr id="5" name="Image 0" descr="C:\Users\Elikem\Ace\Academics\MPhil\NWS\Assignment\results\bug_detect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120640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77840" y="777240"/>
            <a:ext cx="329184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87568" y="832104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Key Results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87568" y="1170432"/>
            <a:ext cx="307238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12/12 detection decisions correct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3 bugs detected, 0 false positives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Detection time per pair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1–4 ms  (matches “within seconds”)</a:t>
            </a:r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|A</a:t>
            </a:r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</a:rPr>
              <a:t>M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| = 71–87 states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|A∩| = 22–23 states (after trim)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Shortest witness lengths: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BP1:  7 inputs,  15 I/O symbols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BP2:  6 inputs,  12 I/O symbols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BP3:  7 inputs,  15 I/O symbols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4320" y="3904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Each bug confirmed by replaying its witness on the actual SUT. No false alarms.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10/13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Bug Witness: Missing Certificate (BP1)</a:t>
            </a:r>
            <a:endParaRPr lang="en-US" sz="2100" dirty="0"/>
          </a:p>
        </p:txBody>
      </p:sp>
      <p:pic>
        <p:nvPicPr>
          <p:cNvPr id="5" name="Image 0" descr="C:\Users\Elikem\Ace\Academics\MPhil\NWS\Assignment\results\messag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76072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2200" y="777240"/>
            <a:ext cx="2697480" cy="374904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81928" y="832104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Reading the Witness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81928" y="1188720"/>
            <a:ext cx="2478024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Algorithm 1 produces the shortest sequence that triggers the bug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11111"/>
                </a:solidFill>
              </a:rPr>
              <a:t>CertE (empty cert) sent instead of a valid certificate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Buggy server: treats CertE identically to a real Cert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11111"/>
                </a:solidFill>
              </a:rPr>
              <a:t>Handshake completes (CCS_s sent)</a:t>
            </a:r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despite no verified certificate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→ Mutual authentication is bypassed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11/13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Limitations of This Replication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59536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Mock SUTs, not real servers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13385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Real paper tested OpenSSL, GnuTLS, WolfSSL, etc. This replication uses hand-written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Python state machines that precisely embed the known bugs. Results are deterministic, not probabilistic.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792224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4708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Models analytically constructed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learns Mealy machines via active automata learning (L*/TTT). Here, models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built directly from SUT code. The intersection and Algorithm 1 are faithful; the learning step is not.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779776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346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Three bug patterns only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089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covers more bug classes across DTLS and SSH. Only BP1, BP2, BP3 are implemented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here; extending to new protocols requires new hand-crafted bug-pattern DFAs.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2219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No scalability or robustness data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reports learning times (hours) and model sizes for 12 real implementations.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This replication has no learning overhead, so timing comparisons are not meaningful.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12/13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8229600" cy="2286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789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What the paper achieves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Fully automated detection of state machine bugs across 12 DTLS/SSH implementations.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7 previously unknown bugs discovered, including critical mutual-authentication bypasses.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95681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Core algorithms replicated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31136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Mealy → DFA (Section VI) + DFA intersection (Section IV) + Algorithm 1 (Section V)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implemented in pure Python. All 12 detection results correct.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Results match the paper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3 bug classes detected in &lt; 5 ms each. Zero false positives on the correct model.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Minimal witnesses confirmed by SUT replay.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371246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Practical significance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986784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Automates what previously required expert manual analysis of learned models,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enabling scalable security auditing of protocol implementations at deployment time.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COE 576 Networks and Web Security  |  KNUST MPhil  |  September 2026  |  Bless Elikem Krapah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13/13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Automata-Based Protocol Bug Detection</dc:title>
  <dc:subject>COE 576 NWS - Paper 8 Replication</dc:subject>
  <dc:creator>Bless Elikem Krapah</dc:creator>
  <cp:lastModifiedBy>Bless Elikem Krapah</cp:lastModifiedBy>
  <cp:revision>1</cp:revision>
  <dcterms:created xsi:type="dcterms:W3CDTF">2026-09-22T14:38:51Z</dcterms:created>
  <dcterms:modified xsi:type="dcterms:W3CDTF">2026-09-22T14:38:51Z</dcterms:modified>
</cp:coreProperties>
</file>